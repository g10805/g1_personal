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83" r:id="rId5"/>
    <p:sldId id="309" r:id="rId6"/>
    <p:sldId id="312" r:id="rId7"/>
    <p:sldId id="304" r:id="rId8"/>
    <p:sldId id="303" r:id="rId9"/>
    <p:sldId id="315" r:id="rId10"/>
    <p:sldId id="284" r:id="rId11"/>
    <p:sldId id="285" r:id="rId12"/>
    <p:sldId id="287" r:id="rId13"/>
    <p:sldId id="307" r:id="rId14"/>
    <p:sldId id="308" r:id="rId15"/>
    <p:sldId id="305" r:id="rId16"/>
    <p:sldId id="306" r:id="rId17"/>
    <p:sldId id="310" r:id="rId18"/>
    <p:sldId id="313" r:id="rId19"/>
    <p:sldId id="311" r:id="rId20"/>
    <p:sldId id="314" r:id="rId21"/>
    <p:sldId id="3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F0A8AF-069B-4734-A8B4-C3BD1C61D4F1}">
          <p14:sldIdLst>
            <p14:sldId id="283"/>
            <p14:sldId id="309"/>
            <p14:sldId id="312"/>
            <p14:sldId id="304"/>
            <p14:sldId id="303"/>
            <p14:sldId id="315"/>
            <p14:sldId id="284"/>
            <p14:sldId id="285"/>
            <p14:sldId id="287"/>
            <p14:sldId id="307"/>
            <p14:sldId id="308"/>
            <p14:sldId id="305"/>
            <p14:sldId id="306"/>
            <p14:sldId id="310"/>
            <p14:sldId id="313"/>
            <p14:sldId id="311"/>
            <p14:sldId id="314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rugappan, Vignesh (V.)" initials="MV(" lastIdx="5" clrIdx="0">
    <p:extLst>
      <p:ext uri="{19B8F6BF-5375-455C-9EA6-DF929625EA0E}">
        <p15:presenceInfo xmlns:p15="http://schemas.microsoft.com/office/powerpoint/2012/main" userId="S::vmurugap@visteon.com::dc73551d-671b-4260-9439-5bd6b51afc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C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A05B9-6769-4B6B-AC71-AAB61A1D8BBE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2FF31-98FB-447F-94EA-D2C21E1B0AA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34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B7950C-14D7-4F06-B9E9-0C23AA5DC852}" type="slidenum">
              <a:rPr lang="en-US" altLang="en-US"/>
              <a:pPr/>
              <a:t>1</a:t>
            </a:fld>
            <a:endParaRPr lang="en-US" altLang="en-US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71898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0CC1F3-5434-4503-AC13-1F3A23E0E9BD}" type="slidenum">
              <a:rPr lang="en-US" altLang="en-US"/>
              <a:pPr/>
              <a:t>7</a:t>
            </a:fld>
            <a:endParaRPr lang="en-US" altLang="en-US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832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17"/>
            <a:ext cx="12154139" cy="68324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099"/>
            <a:ext cx="11360785" cy="1123707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88806"/>
            <a:ext cx="11360785" cy="63524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92465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802" y="6053069"/>
            <a:ext cx="2402393" cy="678792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 userDrawn="1"/>
        </p:nvSpPr>
        <p:spPr>
          <a:xfrm>
            <a:off x="190500" y="6392465"/>
            <a:ext cx="1809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Visteon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12418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08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891" b="29758"/>
          <a:stretch/>
        </p:blipFill>
        <p:spPr>
          <a:xfrm>
            <a:off x="4238171" y="3009902"/>
            <a:ext cx="7953829" cy="3845717"/>
          </a:xfrm>
          <a:prstGeom prst="rect">
            <a:avLst/>
          </a:prstGeom>
        </p:spPr>
      </p:pic>
      <p:sp>
        <p:nvSpPr>
          <p:cNvPr id="4" name="Freeform 3"/>
          <p:cNvSpPr/>
          <p:nvPr userDrawn="1"/>
        </p:nvSpPr>
        <p:spPr bwMode="white">
          <a:xfrm>
            <a:off x="5885260" y="6431759"/>
            <a:ext cx="423862" cy="431006"/>
          </a:xfrm>
          <a:custGeom>
            <a:avLst/>
            <a:gdLst>
              <a:gd name="connsiteX0" fmla="*/ 0 w 421481"/>
              <a:gd name="connsiteY0" fmla="*/ 357187 h 364331"/>
              <a:gd name="connsiteX1" fmla="*/ 0 w 421481"/>
              <a:gd name="connsiteY1" fmla="*/ 85725 h 364331"/>
              <a:gd name="connsiteX2" fmla="*/ 214312 w 421481"/>
              <a:gd name="connsiteY2" fmla="*/ 0 h 364331"/>
              <a:gd name="connsiteX3" fmla="*/ 409575 w 421481"/>
              <a:gd name="connsiteY3" fmla="*/ 9525 h 364331"/>
              <a:gd name="connsiteX4" fmla="*/ 421481 w 421481"/>
              <a:gd name="connsiteY4" fmla="*/ 233362 h 364331"/>
              <a:gd name="connsiteX5" fmla="*/ 404812 w 421481"/>
              <a:gd name="connsiteY5" fmla="*/ 309562 h 364331"/>
              <a:gd name="connsiteX6" fmla="*/ 240506 w 421481"/>
              <a:gd name="connsiteY6" fmla="*/ 333375 h 364331"/>
              <a:gd name="connsiteX7" fmla="*/ 57150 w 421481"/>
              <a:gd name="connsiteY7" fmla="*/ 364331 h 364331"/>
              <a:gd name="connsiteX8" fmla="*/ 0 w 421481"/>
              <a:gd name="connsiteY8" fmla="*/ 357187 h 364331"/>
              <a:gd name="connsiteX0" fmla="*/ 0 w 421481"/>
              <a:gd name="connsiteY0" fmla="*/ 369093 h 369093"/>
              <a:gd name="connsiteX1" fmla="*/ 0 w 421481"/>
              <a:gd name="connsiteY1" fmla="*/ 85725 h 369093"/>
              <a:gd name="connsiteX2" fmla="*/ 214312 w 421481"/>
              <a:gd name="connsiteY2" fmla="*/ 0 h 369093"/>
              <a:gd name="connsiteX3" fmla="*/ 409575 w 421481"/>
              <a:gd name="connsiteY3" fmla="*/ 9525 h 369093"/>
              <a:gd name="connsiteX4" fmla="*/ 421481 w 421481"/>
              <a:gd name="connsiteY4" fmla="*/ 233362 h 369093"/>
              <a:gd name="connsiteX5" fmla="*/ 404812 w 421481"/>
              <a:gd name="connsiteY5" fmla="*/ 309562 h 369093"/>
              <a:gd name="connsiteX6" fmla="*/ 240506 w 421481"/>
              <a:gd name="connsiteY6" fmla="*/ 333375 h 369093"/>
              <a:gd name="connsiteX7" fmla="*/ 57150 w 421481"/>
              <a:gd name="connsiteY7" fmla="*/ 364331 h 369093"/>
              <a:gd name="connsiteX8" fmla="*/ 0 w 421481"/>
              <a:gd name="connsiteY8" fmla="*/ 369093 h 369093"/>
              <a:gd name="connsiteX0" fmla="*/ 0 w 421481"/>
              <a:gd name="connsiteY0" fmla="*/ 364330 h 364331"/>
              <a:gd name="connsiteX1" fmla="*/ 0 w 421481"/>
              <a:gd name="connsiteY1" fmla="*/ 85725 h 364331"/>
              <a:gd name="connsiteX2" fmla="*/ 214312 w 421481"/>
              <a:gd name="connsiteY2" fmla="*/ 0 h 364331"/>
              <a:gd name="connsiteX3" fmla="*/ 409575 w 421481"/>
              <a:gd name="connsiteY3" fmla="*/ 9525 h 364331"/>
              <a:gd name="connsiteX4" fmla="*/ 421481 w 421481"/>
              <a:gd name="connsiteY4" fmla="*/ 233362 h 364331"/>
              <a:gd name="connsiteX5" fmla="*/ 404812 w 421481"/>
              <a:gd name="connsiteY5" fmla="*/ 309562 h 364331"/>
              <a:gd name="connsiteX6" fmla="*/ 240506 w 421481"/>
              <a:gd name="connsiteY6" fmla="*/ 333375 h 364331"/>
              <a:gd name="connsiteX7" fmla="*/ 57150 w 421481"/>
              <a:gd name="connsiteY7" fmla="*/ 364331 h 364331"/>
              <a:gd name="connsiteX8" fmla="*/ 0 w 421481"/>
              <a:gd name="connsiteY8" fmla="*/ 364330 h 364331"/>
              <a:gd name="connsiteX0" fmla="*/ 0 w 421481"/>
              <a:gd name="connsiteY0" fmla="*/ 354805 h 354806"/>
              <a:gd name="connsiteX1" fmla="*/ 0 w 421481"/>
              <a:gd name="connsiteY1" fmla="*/ 76200 h 354806"/>
              <a:gd name="connsiteX2" fmla="*/ 214312 w 421481"/>
              <a:gd name="connsiteY2" fmla="*/ 7144 h 354806"/>
              <a:gd name="connsiteX3" fmla="*/ 409575 w 421481"/>
              <a:gd name="connsiteY3" fmla="*/ 0 h 354806"/>
              <a:gd name="connsiteX4" fmla="*/ 421481 w 421481"/>
              <a:gd name="connsiteY4" fmla="*/ 223837 h 354806"/>
              <a:gd name="connsiteX5" fmla="*/ 404812 w 421481"/>
              <a:gd name="connsiteY5" fmla="*/ 300037 h 354806"/>
              <a:gd name="connsiteX6" fmla="*/ 240506 w 421481"/>
              <a:gd name="connsiteY6" fmla="*/ 323850 h 354806"/>
              <a:gd name="connsiteX7" fmla="*/ 57150 w 421481"/>
              <a:gd name="connsiteY7" fmla="*/ 354806 h 354806"/>
              <a:gd name="connsiteX8" fmla="*/ 0 w 421481"/>
              <a:gd name="connsiteY8" fmla="*/ 354805 h 354806"/>
              <a:gd name="connsiteX0" fmla="*/ 0 w 421481"/>
              <a:gd name="connsiteY0" fmla="*/ 354805 h 354806"/>
              <a:gd name="connsiteX1" fmla="*/ 2381 w 421481"/>
              <a:gd name="connsiteY1" fmla="*/ 85725 h 354806"/>
              <a:gd name="connsiteX2" fmla="*/ 214312 w 421481"/>
              <a:gd name="connsiteY2" fmla="*/ 7144 h 354806"/>
              <a:gd name="connsiteX3" fmla="*/ 409575 w 421481"/>
              <a:gd name="connsiteY3" fmla="*/ 0 h 354806"/>
              <a:gd name="connsiteX4" fmla="*/ 421481 w 421481"/>
              <a:gd name="connsiteY4" fmla="*/ 223837 h 354806"/>
              <a:gd name="connsiteX5" fmla="*/ 404812 w 421481"/>
              <a:gd name="connsiteY5" fmla="*/ 300037 h 354806"/>
              <a:gd name="connsiteX6" fmla="*/ 240506 w 421481"/>
              <a:gd name="connsiteY6" fmla="*/ 323850 h 354806"/>
              <a:gd name="connsiteX7" fmla="*/ 57150 w 421481"/>
              <a:gd name="connsiteY7" fmla="*/ 354806 h 354806"/>
              <a:gd name="connsiteX8" fmla="*/ 0 w 421481"/>
              <a:gd name="connsiteY8" fmla="*/ 354805 h 3548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14312 w 423862"/>
              <a:gd name="connsiteY2" fmla="*/ 83344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04812 w 423862"/>
              <a:gd name="connsiteY5" fmla="*/ 376237 h 431006"/>
              <a:gd name="connsiteX6" fmla="*/ 240506 w 423862"/>
              <a:gd name="connsiteY6" fmla="*/ 400050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04812 w 423862"/>
              <a:gd name="connsiteY5" fmla="*/ 376237 h 431006"/>
              <a:gd name="connsiteX6" fmla="*/ 240506 w 423862"/>
              <a:gd name="connsiteY6" fmla="*/ 400050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19100 w 423862"/>
              <a:gd name="connsiteY5" fmla="*/ 423862 h 431006"/>
              <a:gd name="connsiteX6" fmla="*/ 240506 w 423862"/>
              <a:gd name="connsiteY6" fmla="*/ 400050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19100 w 423862"/>
              <a:gd name="connsiteY5" fmla="*/ 423862 h 431006"/>
              <a:gd name="connsiteX6" fmla="*/ 233362 w 423862"/>
              <a:gd name="connsiteY6" fmla="*/ 414337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19100 w 423862"/>
              <a:gd name="connsiteY5" fmla="*/ 423862 h 431006"/>
              <a:gd name="connsiteX6" fmla="*/ 230981 w 423862"/>
              <a:gd name="connsiteY6" fmla="*/ 426243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3862" h="431006">
                <a:moveTo>
                  <a:pt x="0" y="431005"/>
                </a:moveTo>
                <a:cubicBezTo>
                  <a:pt x="794" y="341312"/>
                  <a:pt x="1587" y="251618"/>
                  <a:pt x="2381" y="161925"/>
                </a:cubicBezTo>
                <a:lnTo>
                  <a:pt x="209550" y="78582"/>
                </a:lnTo>
                <a:lnTo>
                  <a:pt x="423862" y="0"/>
                </a:lnTo>
                <a:cubicBezTo>
                  <a:pt x="423068" y="100012"/>
                  <a:pt x="422275" y="200025"/>
                  <a:pt x="421481" y="300037"/>
                </a:cubicBezTo>
                <a:cubicBezTo>
                  <a:pt x="420687" y="341312"/>
                  <a:pt x="419894" y="382587"/>
                  <a:pt x="419100" y="423862"/>
                </a:cubicBezTo>
                <a:lnTo>
                  <a:pt x="230981" y="426243"/>
                </a:lnTo>
                <a:lnTo>
                  <a:pt x="57150" y="431006"/>
                </a:lnTo>
                <a:lnTo>
                  <a:pt x="0" y="4310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75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019803"/>
            <a:ext cx="12192000" cy="8381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1371601"/>
            <a:ext cx="1098550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70800" y="6521448"/>
            <a:ext cx="4114800" cy="288927"/>
          </a:xfrm>
        </p:spPr>
        <p:txBody>
          <a:bodyPr/>
          <a:lstStyle>
            <a:lvl1pPr>
              <a:defRPr lang="en-US" sz="900" kern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27600" y="6483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0" y="6010277"/>
            <a:ext cx="12192000" cy="5429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83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019803"/>
            <a:ext cx="12192000" cy="8381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53949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948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on Oran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4" y="1371601"/>
            <a:ext cx="10391775" cy="4057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1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4" y="1371601"/>
            <a:ext cx="10391775" cy="4057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1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a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3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1003300"/>
            <a:ext cx="10598149" cy="11176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120900"/>
            <a:ext cx="10598150" cy="68103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732" y="5799069"/>
            <a:ext cx="2402393" cy="6787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52" b="9686"/>
          <a:stretch/>
        </p:blipFill>
        <p:spPr>
          <a:xfrm>
            <a:off x="1785257" y="813556"/>
            <a:ext cx="10406743" cy="60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4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300" y="1371600"/>
            <a:ext cx="5486400" cy="4805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1900" y="1371600"/>
            <a:ext cx="5486400" cy="4805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20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188913"/>
            <a:ext cx="10058400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371600"/>
            <a:ext cx="548640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300" y="2195512"/>
            <a:ext cx="548640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2181" y="1371600"/>
            <a:ext cx="5513419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2181" y="2195512"/>
            <a:ext cx="5513419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512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334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Message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683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368300" y="4330700"/>
            <a:ext cx="3695700" cy="160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80899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42418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241800" y="4330700"/>
            <a:ext cx="3695700" cy="160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089900" y="4330700"/>
            <a:ext cx="3695700" cy="160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5909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Messages with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131241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52705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901496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18591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40055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22960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52705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4"/>
          </p:nvPr>
        </p:nvSpPr>
        <p:spPr>
          <a:xfrm>
            <a:off x="440055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5"/>
          </p:nvPr>
        </p:nvSpPr>
        <p:spPr>
          <a:xfrm>
            <a:off x="822960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52705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7"/>
          </p:nvPr>
        </p:nvSpPr>
        <p:spPr>
          <a:xfrm>
            <a:off x="440055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8"/>
          </p:nvPr>
        </p:nvSpPr>
        <p:spPr>
          <a:xfrm>
            <a:off x="822960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9"/>
          </p:nvPr>
        </p:nvSpPr>
        <p:spPr>
          <a:xfrm>
            <a:off x="52705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30"/>
          </p:nvPr>
        </p:nvSpPr>
        <p:spPr>
          <a:xfrm>
            <a:off x="440055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31"/>
          </p:nvPr>
        </p:nvSpPr>
        <p:spPr>
          <a:xfrm>
            <a:off x="822960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8312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21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9200" y="1003300"/>
            <a:ext cx="5486400" cy="5001419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96000" y="6483350"/>
            <a:ext cx="1371600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696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Bulleted Text 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9200" y="1003300"/>
            <a:ext cx="5486400" cy="5001419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96000" y="6461125"/>
            <a:ext cx="157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900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1" r="4158" b="27068"/>
          <a:stretch/>
        </p:blipFill>
        <p:spPr>
          <a:xfrm>
            <a:off x="-1" y="1314452"/>
            <a:ext cx="12192001" cy="5543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975" y="1273481"/>
            <a:ext cx="3822049" cy="7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341" y="390592"/>
            <a:ext cx="1399778" cy="39550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8300" y="187325"/>
            <a:ext cx="10083800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371600"/>
            <a:ext cx="1098550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70800" y="6483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16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864">
          <p15:clr>
            <a:srgbClr val="F26B43"/>
          </p15:clr>
        </p15:guide>
        <p15:guide id="4" pos="232">
          <p15:clr>
            <a:srgbClr val="F26B43"/>
          </p15:clr>
        </p15:guide>
        <p15:guide id="5" orient="horz" pos="3904">
          <p15:clr>
            <a:srgbClr val="F26B43"/>
          </p15:clr>
        </p15:guide>
        <p15:guide id="6" orient="horz" pos="632">
          <p15:clr>
            <a:srgbClr val="F26B43"/>
          </p15:clr>
        </p15:guide>
        <p15:guide id="7" orient="horz" pos="112">
          <p15:clr>
            <a:srgbClr val="F26B43"/>
          </p15:clr>
        </p15:guide>
        <p15:guide id="8" pos="74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83793" y="511646"/>
            <a:ext cx="7772400" cy="147002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altLang="en-US" sz="4400" dirty="0"/>
              <a:t>GNSS terminologies &amp; concepts</a:t>
            </a:r>
            <a:br>
              <a:rPr lang="en-US" altLang="en-US" sz="4400" dirty="0"/>
            </a:b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087266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6793-5F32-B3D6-C9FB-D9FEDC96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GNSS + 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D5F1-3DFC-EC46-1669-F4529CD58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GNSS (Global Navigation Satellite System):</a:t>
            </a:r>
            <a:br>
              <a:rPr lang="en-US" dirty="0"/>
            </a:br>
            <a:r>
              <a:rPr lang="en-US" dirty="0"/>
              <a:t>A satellite-based system that provides global positioning, navigation, and timing services by using signals from multiple satellites.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DR (Dead Reckoning):</a:t>
            </a:r>
            <a:br>
              <a:rPr lang="en-US" dirty="0"/>
            </a:br>
            <a:r>
              <a:rPr lang="en-US" dirty="0"/>
              <a:t>A navigation method that estimates the current position based on a previously known position, speed, direction, and time, without external signals.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BB151-0FC4-5B0C-A1E8-62EF295A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1AFA2-549C-203C-AF8F-AE09CD41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9603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5949-ABD7-C6FB-5B88-CD743E8A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54A88-32E6-D4ED-305F-5E7B9531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CB280-1254-C2BE-0707-A9A6BEF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E9CC9C-9319-7F26-01BF-5C964497DB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697" y="1371600"/>
            <a:ext cx="6210705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79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7584-3E32-4043-8352-6D92E9EE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U-BLOX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D65C-02DC-79F8-FDC0-75CAF3F59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U-</a:t>
            </a:r>
            <a:r>
              <a:rPr lang="en-US" sz="1800" dirty="0" err="1"/>
              <a:t>blox</a:t>
            </a:r>
            <a:r>
              <a:rPr lang="en-US" sz="1800" dirty="0"/>
              <a:t> modules and chips are multi-GNSS receivers capable of receiving and processing signals from multiple GNSS.</a:t>
            </a:r>
          </a:p>
          <a:p>
            <a:pPr algn="l"/>
            <a:r>
              <a:rPr lang="en-US" sz="1800" b="0" i="0" u="none" strike="noStrike" baseline="0" dirty="0">
                <a:latin typeface="ublox-Regular"/>
              </a:rPr>
              <a:t>u-</a:t>
            </a:r>
            <a:r>
              <a:rPr lang="en-US" sz="1800" b="0" i="0" u="none" strike="noStrike" baseline="0" dirty="0" err="1">
                <a:latin typeface="ublox-Regular"/>
              </a:rPr>
              <a:t>blox</a:t>
            </a:r>
            <a:r>
              <a:rPr lang="en-US" sz="1800" b="0" i="0" u="none" strike="noStrike" baseline="0" dirty="0">
                <a:latin typeface="ublox-Regular"/>
              </a:rPr>
              <a:t> concurrent GNSS receivers are multi-GNSS receiver have capable receiving signals from more than one GNSS system at the same time, and utilize them in positioning.</a:t>
            </a:r>
          </a:p>
          <a:p>
            <a:pPr algn="l"/>
            <a:endParaRPr lang="en-US" sz="1800" b="0" i="0" u="none" strike="noStrike" baseline="0" dirty="0">
              <a:latin typeface="ublox-Regular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66F26-4B34-3A3E-7181-9165AD67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A790E-0230-1507-6C49-CEDE393E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429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4438-DEA0-CE36-53F1-93A45390D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38" y="131932"/>
            <a:ext cx="10083800" cy="803275"/>
          </a:xfrm>
        </p:spPr>
        <p:txBody>
          <a:bodyPr/>
          <a:lstStyle/>
          <a:p>
            <a:r>
              <a:rPr lang="en-US" dirty="0"/>
              <a:t>U-BLOX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7722E-B909-B1A9-A8D4-392FD47B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C3756-909E-5D94-60AF-CB721269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0309B-6531-7C1B-74A3-CF6CE4C1E085}"/>
              </a:ext>
            </a:extLst>
          </p:cNvPr>
          <p:cNvSpPr/>
          <p:nvPr/>
        </p:nvSpPr>
        <p:spPr>
          <a:xfrm>
            <a:off x="5181600" y="5400632"/>
            <a:ext cx="3954379" cy="61762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KERNEL(GPS DRIVER)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F338E1-9F24-78CE-4663-096748B785B8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7154779" y="4878471"/>
            <a:ext cx="4011" cy="522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A2317FC-6C06-56BD-4BBE-CE6C1CD306B9}"/>
              </a:ext>
            </a:extLst>
          </p:cNvPr>
          <p:cNvSpPr/>
          <p:nvPr/>
        </p:nvSpPr>
        <p:spPr>
          <a:xfrm>
            <a:off x="5181600" y="4124492"/>
            <a:ext cx="3954379" cy="75397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373C4A-F625-2406-0B80-C45BC1A572DA}"/>
              </a:ext>
            </a:extLst>
          </p:cNvPr>
          <p:cNvCxnSpPr/>
          <p:nvPr/>
        </p:nvCxnSpPr>
        <p:spPr>
          <a:xfrm flipV="1">
            <a:off x="7154779" y="3641558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172BE-A32B-09D9-418C-8BBBB298C476}"/>
              </a:ext>
            </a:extLst>
          </p:cNvPr>
          <p:cNvSpPr/>
          <p:nvPr/>
        </p:nvSpPr>
        <p:spPr>
          <a:xfrm>
            <a:off x="5181600" y="2839453"/>
            <a:ext cx="3954379" cy="75397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FRAMEWORK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D0644D-83A4-A3EC-9F77-A86FA5B7CC8F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7154779" y="2370221"/>
            <a:ext cx="4011" cy="469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DA8A1C7-3027-1BAD-1B6B-5139B16A94E8}"/>
              </a:ext>
            </a:extLst>
          </p:cNvPr>
          <p:cNvSpPr/>
          <p:nvPr/>
        </p:nvSpPr>
        <p:spPr>
          <a:xfrm>
            <a:off x="5101389" y="1457368"/>
            <a:ext cx="4106779" cy="85992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</a:p>
        </p:txBody>
      </p:sp>
      <p:pic>
        <p:nvPicPr>
          <p:cNvPr id="20" name="Picture 42" descr="NEO-M8 series | u-blox">
            <a:extLst>
              <a:ext uri="{FF2B5EF4-FFF2-40B4-BE49-F238E27FC236}">
                <a16:creationId xmlns:a16="http://schemas.microsoft.com/office/drawing/2014/main" id="{57A8FC4A-546D-9527-1D6E-A5567A0314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39" y="3307743"/>
            <a:ext cx="3707504" cy="288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230BFC-E3FF-A3C7-048D-36443374E1EB}"/>
              </a:ext>
            </a:extLst>
          </p:cNvPr>
          <p:cNvCxnSpPr>
            <a:endCxn id="11" idx="1"/>
          </p:cNvCxnSpPr>
          <p:nvPr/>
        </p:nvCxnSpPr>
        <p:spPr>
          <a:xfrm>
            <a:off x="3056021" y="4491789"/>
            <a:ext cx="2125579" cy="9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36206FB-2CEC-891C-A1AB-A43D8A476D94}"/>
              </a:ext>
            </a:extLst>
          </p:cNvPr>
          <p:cNvSpPr/>
          <p:nvPr/>
        </p:nvSpPr>
        <p:spPr>
          <a:xfrm>
            <a:off x="1268216" y="2413167"/>
            <a:ext cx="1562325" cy="8032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satellites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45607B-31D9-42ED-184F-52D7B16A6BD9}"/>
              </a:ext>
            </a:extLst>
          </p:cNvPr>
          <p:cNvCxnSpPr/>
          <p:nvPr/>
        </p:nvCxnSpPr>
        <p:spPr>
          <a:xfrm>
            <a:off x="1971923" y="3216442"/>
            <a:ext cx="0" cy="751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32CFFA-2439-2821-EF88-D65D0C490036}"/>
              </a:ext>
            </a:extLst>
          </p:cNvPr>
          <p:cNvCxnSpPr/>
          <p:nvPr/>
        </p:nvCxnSpPr>
        <p:spPr>
          <a:xfrm>
            <a:off x="2274073" y="3216442"/>
            <a:ext cx="0" cy="751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404CD1-C24E-6092-8A72-5C0E9F58C7E5}"/>
              </a:ext>
            </a:extLst>
          </p:cNvPr>
          <p:cNvCxnSpPr/>
          <p:nvPr/>
        </p:nvCxnSpPr>
        <p:spPr>
          <a:xfrm>
            <a:off x="1773141" y="3156668"/>
            <a:ext cx="0" cy="811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226CBBD-8A6D-591C-FE94-A1F735648B33}"/>
              </a:ext>
            </a:extLst>
          </p:cNvPr>
          <p:cNvSpPr/>
          <p:nvPr/>
        </p:nvSpPr>
        <p:spPr>
          <a:xfrm>
            <a:off x="3522428" y="4124492"/>
            <a:ext cx="1033669" cy="269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</p:spTree>
    <p:extLst>
      <p:ext uri="{BB962C8B-B14F-4D97-AF65-F5344CB8AC3E}">
        <p14:creationId xmlns:p14="http://schemas.microsoft.com/office/powerpoint/2010/main" val="386326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A629-14B5-B9FE-5362-A26E03D3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3D8F2-BE92-CB83-6A79-85B051CD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4CD17-07C1-79E2-57F6-D46F5050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A6CAD8A-D7B0-1337-9DDF-C4ABAC9588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300" y="3174117"/>
            <a:ext cx="105496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open("/dev/ttyHS2", O_RDWR | O_NOCTTY | O_NONBLOCK)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called to establish a file descriptor.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used to parse incoming GNSS data (NMEA sentences like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$GPGGA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$GPRMC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write()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send commands to the GNSS chipset.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Often, the HAL sets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baud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115200 or higher)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termios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match GNSS module specs.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39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Introduction of NMEA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905E6-FC7D-FFCF-2113-628556A70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250" y="1451113"/>
            <a:ext cx="10985500" cy="2635857"/>
          </a:xfrm>
        </p:spPr>
        <p:txBody>
          <a:bodyPr/>
          <a:lstStyle/>
          <a:p>
            <a:r>
              <a:rPr lang="en-US" sz="1800" dirty="0"/>
              <a:t>NMEA(</a:t>
            </a:r>
            <a:r>
              <a:rPr lang="en-US" sz="18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National Marine Electronics Association</a:t>
            </a:r>
            <a:r>
              <a:rPr lang="en-US" sz="18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r>
              <a:rPr lang="en-US" sz="18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NMEA </a:t>
            </a:r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messages are sent by the GNSS receiver.</a:t>
            </a:r>
          </a:p>
          <a:p>
            <a:r>
              <a:rPr lang="en-US" sz="1800" dirty="0">
                <a:solidFill>
                  <a:srgbClr val="202124"/>
                </a:solidFill>
                <a:latin typeface="arial" panose="020B0604020202020204" pitchFamily="34" charset="0"/>
              </a:rPr>
              <a:t>NMEA frames starts with the $ symbol.</a:t>
            </a:r>
          </a:p>
          <a:p>
            <a:pPr marL="0" indent="0">
              <a:buNone/>
            </a:pPr>
            <a:r>
              <a:rPr lang="en-US" sz="1800" b="1" dirty="0"/>
              <a:t>NMEA structure</a:t>
            </a:r>
          </a:p>
          <a:p>
            <a:pPr marL="0" indent="0">
              <a:buNone/>
            </a:pPr>
            <a:r>
              <a:rPr lang="pt-BR" sz="1800" dirty="0">
                <a:latin typeface="Courier"/>
              </a:rPr>
              <a:t>ex : </a:t>
            </a:r>
            <a:r>
              <a:rPr lang="pt-BR" sz="1800" b="0" i="0" u="none" strike="noStrike" baseline="0" dirty="0">
                <a:latin typeface="Courier"/>
              </a:rPr>
              <a:t>$GPGLL,4717.11364,N,00833.91565,E,092321.00,A,A*60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477078" y="2558715"/>
            <a:ext cx="11346622" cy="350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</a:pPr>
            <a:endParaRPr lang="en-US" altLang="en-US" sz="1800" dirty="0"/>
          </a:p>
        </p:txBody>
      </p: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28E1AD0B-0E9D-4C09-3B0B-87840312B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73840"/>
              </p:ext>
            </p:extLst>
          </p:nvPr>
        </p:nvGraphicFramePr>
        <p:xfrm>
          <a:off x="477077" y="3307744"/>
          <a:ext cx="959271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543">
                  <a:extLst>
                    <a:ext uri="{9D8B030D-6E8A-4147-A177-3AD203B41FA5}">
                      <a16:colId xmlns:a16="http://schemas.microsoft.com/office/drawing/2014/main" val="1149414896"/>
                    </a:ext>
                  </a:extLst>
                </a:gridCol>
                <a:gridCol w="1918543">
                  <a:extLst>
                    <a:ext uri="{9D8B030D-6E8A-4147-A177-3AD203B41FA5}">
                      <a16:colId xmlns:a16="http://schemas.microsoft.com/office/drawing/2014/main" val="1687301943"/>
                    </a:ext>
                  </a:extLst>
                </a:gridCol>
                <a:gridCol w="1918543">
                  <a:extLst>
                    <a:ext uri="{9D8B030D-6E8A-4147-A177-3AD203B41FA5}">
                      <a16:colId xmlns:a16="http://schemas.microsoft.com/office/drawing/2014/main" val="542938300"/>
                    </a:ext>
                  </a:extLst>
                </a:gridCol>
                <a:gridCol w="1918543">
                  <a:extLst>
                    <a:ext uri="{9D8B030D-6E8A-4147-A177-3AD203B41FA5}">
                      <a16:colId xmlns:a16="http://schemas.microsoft.com/office/drawing/2014/main" val="1383847944"/>
                    </a:ext>
                  </a:extLst>
                </a:gridCol>
                <a:gridCol w="1918543">
                  <a:extLst>
                    <a:ext uri="{9D8B030D-6E8A-4147-A177-3AD203B41FA5}">
                      <a16:colId xmlns:a16="http://schemas.microsoft.com/office/drawing/2014/main" val="3928113837"/>
                    </a:ext>
                  </a:extLst>
                </a:gridCol>
              </a:tblGrid>
              <a:tr h="429370">
                <a:tc>
                  <a:txBody>
                    <a:bodyPr/>
                    <a:lstStyle/>
                    <a:p>
                      <a:r>
                        <a:rPr lang="en-US" dirty="0"/>
                        <a:t>Start character($)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Address(GPGLL)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Checksum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7233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9DC25E9-5408-BA76-3B16-A42BCF56E7E1}"/>
              </a:ext>
            </a:extLst>
          </p:cNvPr>
          <p:cNvSpPr txBox="1"/>
          <p:nvPr/>
        </p:nvSpPr>
        <p:spPr>
          <a:xfrm>
            <a:off x="712967" y="4391224"/>
            <a:ext cx="107660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Mar 29 18:00:24 imx8dxpsa2020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ublox</a:t>
            </a: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[1544]: [UBLOX] -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GPS_message</a:t>
            </a: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 sending --&gt; $GPRMC,114439.00,A,1254.03598,N,08005.65536,E,0.084,314.31,151222,0.90,W,D*</a:t>
            </a:r>
            <a:br>
              <a:rPr lang="en-US" sz="1050" dirty="0"/>
            </a:b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Mar 29 18:00:24 imx8dxpsa2020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ublox</a:t>
            </a: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[1544]: [UBLOX] - $GPGGA,114439.00,1254.03598,N,08005.65536,E,2,05,1.35,-26.8,M,-87.6,M,,0000*69</a:t>
            </a:r>
            <a:br>
              <a:rPr lang="en-US" sz="1050" dirty="0"/>
            </a:b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Mar 29 18:00:24 imx8dxpsa2020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ublox</a:t>
            </a: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[1544]: [UBLOX] -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trasmitting</a:t>
            </a: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trasmit</a:t>
            </a:r>
            <a:br>
              <a:rPr lang="en-US" sz="1050" dirty="0"/>
            </a:b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Mar 29 18:00:24 imx8dxpsa2020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ublox</a:t>
            </a: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[1544]: [UBLOX] - </a:t>
            </a:r>
            <a:r>
              <a:rPr lang="en-US" sz="1050" b="0" i="0" dirty="0" err="1">
                <a:solidFill>
                  <a:srgbClr val="242424"/>
                </a:solidFill>
                <a:effectLst/>
                <a:latin typeface="-apple-system"/>
              </a:rPr>
              <a:t>GPS_message</a:t>
            </a:r>
            <a:r>
              <a:rPr lang="en-US" sz="1050" b="0" i="0" dirty="0">
                <a:solidFill>
                  <a:srgbClr val="242424"/>
                </a:solidFill>
                <a:effectLst/>
                <a:latin typeface="-apple-system"/>
              </a:rPr>
              <a:t> sending --&gt; $GPGSA,A,3,07,17,01,09,21,,,,,,,,2.29,1.35,1.86*09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2125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A007-671B-44F4-93BF-CB257FCE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Talker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AF8D7-F17E-4A62-AF16-17C9D08B2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19200"/>
            <a:ext cx="10985500" cy="5755691"/>
          </a:xfrm>
        </p:spPr>
        <p:txBody>
          <a:bodyPr>
            <a:normAutofit/>
          </a:bodyPr>
          <a:lstStyle/>
          <a:p>
            <a:r>
              <a:rPr lang="en-US" sz="1800" i="0" dirty="0">
                <a:effectLst/>
                <a:latin typeface="Arial" panose="020B0604020202020204" pitchFamily="34" charset="0"/>
              </a:rPr>
              <a:t>NMEA standard differentiates between GNSS is by using a two-letter message identifier, the 'Talker ID’.</a:t>
            </a:r>
          </a:p>
          <a:p>
            <a:r>
              <a:rPr lang="en-US" sz="1800" b="0" i="0" dirty="0">
                <a:effectLst/>
                <a:latin typeface="Arial" panose="020B0604020202020204" pitchFamily="34" charset="0"/>
              </a:rPr>
              <a:t>specific Talker ID used by a u-</a:t>
            </a:r>
            <a:r>
              <a:rPr lang="en-US" sz="1800" b="0" i="0" dirty="0" err="1">
                <a:effectLst/>
                <a:latin typeface="Arial" panose="020B0604020202020204" pitchFamily="34" charset="0"/>
              </a:rPr>
              <a:t>blox</a:t>
            </a:r>
            <a:r>
              <a:rPr lang="en-US" sz="1800" b="0" i="0" dirty="0">
                <a:effectLst/>
                <a:latin typeface="Arial" panose="020B0604020202020204" pitchFamily="34" charset="0"/>
              </a:rPr>
              <a:t> receiver will depend on the device model and system configuration.</a:t>
            </a:r>
          </a:p>
          <a:p>
            <a:r>
              <a:rPr lang="en-US" sz="2000" b="0" i="0" dirty="0">
                <a:effectLst/>
                <a:latin typeface="Arial" panose="020B0604020202020204" pitchFamily="34" charset="0"/>
              </a:rPr>
              <a:t>Different Talker ID’s </a:t>
            </a:r>
          </a:p>
          <a:p>
            <a:endParaRPr lang="en-US" sz="200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1E478-FE7A-4F34-90DA-A58BB0A8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8A6E6-C4D9-41BD-B246-C665330F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13CB50A-0E68-79B0-358D-50833475A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86240"/>
              </p:ext>
            </p:extLst>
          </p:nvPr>
        </p:nvGraphicFramePr>
        <p:xfrm>
          <a:off x="2019299" y="2969844"/>
          <a:ext cx="8201025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06910">
                  <a:extLst>
                    <a:ext uri="{9D8B030D-6E8A-4147-A177-3AD203B41FA5}">
                      <a16:colId xmlns:a16="http://schemas.microsoft.com/office/drawing/2014/main" val="358377460"/>
                    </a:ext>
                  </a:extLst>
                </a:gridCol>
                <a:gridCol w="4094115">
                  <a:extLst>
                    <a:ext uri="{9D8B030D-6E8A-4147-A177-3AD203B41FA5}">
                      <a16:colId xmlns:a16="http://schemas.microsoft.com/office/drawing/2014/main" val="1693682124"/>
                    </a:ext>
                  </a:extLst>
                </a:gridCol>
              </a:tblGrid>
              <a:tr h="362276">
                <a:tc>
                  <a:txBody>
                    <a:bodyPr/>
                    <a:lstStyle/>
                    <a:p>
                      <a:r>
                        <a:rPr lang="en-US" dirty="0"/>
                        <a:t>Configured GNSS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Talker ID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19901"/>
                  </a:ext>
                </a:extLst>
              </a:tr>
              <a:tr h="362276">
                <a:tc>
                  <a:txBody>
                    <a:bodyPr/>
                    <a:lstStyle/>
                    <a:p>
                      <a:r>
                        <a:rPr lang="en-US" dirty="0"/>
                        <a:t>GPS,SBAS,QZSS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514908"/>
                  </a:ext>
                </a:extLst>
              </a:tr>
              <a:tr h="362276">
                <a:tc>
                  <a:txBody>
                    <a:bodyPr/>
                    <a:lstStyle/>
                    <a:p>
                      <a:r>
                        <a:rPr lang="en-US" dirty="0"/>
                        <a:t>GLONASS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11586719"/>
                  </a:ext>
                </a:extLst>
              </a:tr>
              <a:tr h="362276">
                <a:tc>
                  <a:txBody>
                    <a:bodyPr/>
                    <a:lstStyle/>
                    <a:p>
                      <a:r>
                        <a:rPr lang="en-US" dirty="0"/>
                        <a:t>Galileo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344645"/>
                  </a:ext>
                </a:extLst>
              </a:tr>
              <a:tr h="362276">
                <a:tc>
                  <a:txBody>
                    <a:bodyPr/>
                    <a:lstStyle/>
                    <a:p>
                      <a:r>
                        <a:rPr lang="en-US" dirty="0" err="1"/>
                        <a:t>BeiDou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GB*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005183"/>
                  </a:ext>
                </a:extLst>
              </a:tr>
              <a:tr h="362276">
                <a:tc>
                  <a:txBody>
                    <a:bodyPr/>
                    <a:lstStyle/>
                    <a:p>
                      <a:r>
                        <a:rPr lang="en-US" dirty="0"/>
                        <a:t>Any combination of GNSS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397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894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7C44-067F-48E2-ABA2-1D5D3800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2618"/>
            <a:ext cx="10083800" cy="803275"/>
          </a:xfrm>
        </p:spPr>
        <p:txBody>
          <a:bodyPr/>
          <a:lstStyle/>
          <a:p>
            <a:r>
              <a:rPr lang="en-US" b="1" i="0" u="none" strike="noStrike" baseline="0" dirty="0">
                <a:latin typeface="ublox-Bold"/>
              </a:rPr>
              <a:t>GPGGL</a:t>
            </a:r>
            <a:r>
              <a:rPr lang="en-US" sz="1800" b="1" i="0" u="none" strike="noStrike" baseline="0" dirty="0">
                <a:latin typeface="ublox-Bold"/>
              </a:rPr>
              <a:t> (Latitude and longitude, with time of position fix and status)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F50D7-3F20-4470-BE8E-1C1AFB0FF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371600"/>
            <a:ext cx="10985500" cy="50372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0" i="0" u="none" strike="noStrike" baseline="0" dirty="0">
                <a:latin typeface="Courier"/>
              </a:rPr>
              <a:t>$GPGLL,4717.11364,N,00833.91565,E,092321.00,A,A*60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$ -&gt;</a:t>
            </a:r>
            <a:r>
              <a:rPr lang="pt-BR" sz="2000" dirty="0">
                <a:latin typeface="Courier New" panose="02070309020205020404" pitchFamily="49" charset="0"/>
              </a:rPr>
              <a:t> </a:t>
            </a:r>
            <a:r>
              <a:rPr lang="pt-BR" sz="2000" dirty="0"/>
              <a:t>start character</a:t>
            </a:r>
          </a:p>
          <a:p>
            <a:pPr marL="0" indent="0">
              <a:buNone/>
            </a:pPr>
            <a:r>
              <a:rPr lang="pt-BR" sz="2000" dirty="0"/>
              <a:t>GP-&gt; Talker ID</a:t>
            </a:r>
          </a:p>
          <a:p>
            <a:pPr marL="0" indent="0">
              <a:buNone/>
            </a:pPr>
            <a:r>
              <a:rPr lang="pt-BR" sz="2000" dirty="0"/>
              <a:t>GLL -&gt; Sentence fomatter</a:t>
            </a:r>
          </a:p>
          <a:p>
            <a:pPr marL="0" indent="0">
              <a:buNone/>
            </a:pPr>
            <a:r>
              <a:rPr lang="pt-BR" sz="2000" b="0" i="0" u="none" strike="noStrike" baseline="0" dirty="0"/>
              <a:t>4717.11364 -</a:t>
            </a:r>
            <a:r>
              <a:rPr lang="pt-BR" sz="2000" b="0" i="0" dirty="0">
                <a:effectLst/>
                <a:latin typeface="Courier New" panose="02070309020205020404" pitchFamily="49" charset="0"/>
              </a:rPr>
              <a:t>&gt; </a:t>
            </a:r>
            <a:r>
              <a:rPr lang="pt-BR" sz="2000" b="0" i="0" dirty="0">
                <a:effectLst/>
              </a:rPr>
              <a:t>latitude</a:t>
            </a:r>
          </a:p>
          <a:p>
            <a:pPr marL="0" indent="0">
              <a:buNone/>
            </a:pPr>
            <a:r>
              <a:rPr lang="pt-BR" sz="2000" dirty="0"/>
              <a:t>NS -&gt; North/south indicator</a:t>
            </a:r>
          </a:p>
          <a:p>
            <a:pPr marL="0" indent="0">
              <a:buNone/>
            </a:pPr>
            <a:r>
              <a:rPr lang="pt-BR" sz="2000" b="0" i="0" u="none" strike="noStrike" baseline="0" dirty="0"/>
              <a:t>00833.91565 -&gt; Longitude</a:t>
            </a:r>
          </a:p>
          <a:p>
            <a:pPr marL="0" indent="0">
              <a:buNone/>
            </a:pPr>
            <a:r>
              <a:rPr lang="pt-BR" sz="2000" dirty="0"/>
              <a:t>EW -&gt; East/West indicator</a:t>
            </a:r>
          </a:p>
          <a:p>
            <a:pPr marL="0" indent="0">
              <a:buNone/>
            </a:pPr>
            <a:r>
              <a:rPr lang="pt-BR" sz="2000" b="0" i="0" u="none" strike="noStrike" baseline="0" dirty="0"/>
              <a:t>092321.00 -&gt; UTC time</a:t>
            </a:r>
          </a:p>
          <a:p>
            <a:pPr marL="0" indent="0">
              <a:buNone/>
            </a:pPr>
            <a:r>
              <a:rPr lang="pt-BR" sz="2000" dirty="0"/>
              <a:t>A -&gt; valid status</a:t>
            </a:r>
          </a:p>
          <a:p>
            <a:pPr marL="0" indent="0">
              <a:buNone/>
            </a:pPr>
            <a:r>
              <a:rPr lang="pt-BR" sz="2000" dirty="0"/>
              <a:t>A -&gt; Postioning mode (see position flags)</a:t>
            </a:r>
          </a:p>
          <a:p>
            <a:pPr marL="0" indent="0">
              <a:buNone/>
            </a:pPr>
            <a:r>
              <a:rPr lang="pt-BR" sz="2000" dirty="0"/>
              <a:t>*60 -&gt; Checksum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A4C8F-2244-4E0E-9E97-CB5D7910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68147-FDAC-46A4-BB75-73037E2B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51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EC67-4B26-1593-C208-F13BFF83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GPRMC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477DB-45CF-9B6F-A30B-4882CD5EF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pt-BR" sz="6400" i="0" u="none" strike="noStrike" baseline="0" dirty="0">
                <a:latin typeface="Courier"/>
              </a:rPr>
              <a:t>$GPRMC,083559.00,A,4717.11437,N,00833.91522,E,0.004,77.52,091202,,,A,V*57</a:t>
            </a:r>
          </a:p>
          <a:p>
            <a:pPr marL="0" indent="0">
              <a:buNone/>
            </a:pPr>
            <a:endParaRPr lang="pt-BR" sz="3300" i="0" u="none" strike="noStrike" baseline="0" dirty="0">
              <a:latin typeface="Courier"/>
            </a:endParaRPr>
          </a:p>
          <a:p>
            <a:r>
              <a:rPr lang="pt-BR" sz="5500" dirty="0"/>
              <a:t>GP -&gt; Talker ID</a:t>
            </a:r>
          </a:p>
          <a:p>
            <a:r>
              <a:rPr lang="pt-BR" sz="5500" dirty="0"/>
              <a:t>RMC -&gt; Sentence formatter</a:t>
            </a:r>
          </a:p>
          <a:p>
            <a:r>
              <a:rPr lang="pt-BR" sz="5500" b="0" i="0" u="none" strike="noStrike" baseline="0" dirty="0"/>
              <a:t>083559.00 -&gt;UTC time</a:t>
            </a:r>
          </a:p>
          <a:p>
            <a:r>
              <a:rPr lang="pt-BR" sz="5500" dirty="0"/>
              <a:t>A -&gt; Data validity status </a:t>
            </a:r>
          </a:p>
          <a:p>
            <a:r>
              <a:rPr lang="pt-BR" sz="5500" b="0" i="0" u="none" strike="noStrike" baseline="0" dirty="0"/>
              <a:t>4717.11437 -&gt; Latitud</a:t>
            </a:r>
            <a:r>
              <a:rPr lang="pt-BR" sz="5500" dirty="0"/>
              <a:t>e(ddmm.mmmmm)</a:t>
            </a:r>
          </a:p>
          <a:p>
            <a:r>
              <a:rPr lang="pt-BR" sz="5500" dirty="0"/>
              <a:t>N -&gt; North/South indicator</a:t>
            </a:r>
          </a:p>
          <a:p>
            <a:r>
              <a:rPr lang="pt-BR" sz="5500" b="0" i="0" u="none" strike="noStrike" baseline="0" dirty="0"/>
              <a:t>00833.91522 -&gt; Longitude (dddmm.mmmmm)</a:t>
            </a:r>
          </a:p>
          <a:p>
            <a:r>
              <a:rPr lang="pt-BR" sz="5500" dirty="0"/>
              <a:t>E -&gt; East/west indicator</a:t>
            </a:r>
          </a:p>
          <a:p>
            <a:r>
              <a:rPr lang="pt-BR" sz="5500" dirty="0"/>
              <a:t>0.004 -&gt; speed over the ground</a:t>
            </a:r>
          </a:p>
          <a:p>
            <a:r>
              <a:rPr lang="pt-BR" sz="5500" dirty="0"/>
              <a:t>77.52 -&gt; Course over ground</a:t>
            </a:r>
          </a:p>
          <a:p>
            <a:r>
              <a:rPr lang="pt-BR" sz="5500" b="0" i="0" u="none" strike="noStrike" baseline="0" dirty="0"/>
              <a:t>091202 -&gt; Date</a:t>
            </a:r>
          </a:p>
          <a:p>
            <a:endParaRPr lang="pt-BR" sz="5500" b="0" i="0" u="none" strike="noStrike" baseline="0" dirty="0">
              <a:latin typeface="Courier"/>
            </a:endParaRPr>
          </a:p>
          <a:p>
            <a:endParaRPr lang="pt-BR" sz="5500" dirty="0">
              <a:latin typeface="Courier"/>
            </a:endParaRPr>
          </a:p>
          <a:p>
            <a:endParaRPr lang="pt-BR" sz="5500" dirty="0">
              <a:latin typeface="Courier"/>
            </a:endParaRPr>
          </a:p>
          <a:p>
            <a:endParaRPr lang="pt-BR" sz="5500" dirty="0">
              <a:latin typeface="Courier"/>
            </a:endParaRPr>
          </a:p>
          <a:p>
            <a:pPr marL="0" indent="0">
              <a:buNone/>
            </a:pPr>
            <a:r>
              <a:rPr lang="pt-BR" sz="5500" dirty="0">
                <a:latin typeface="Courier"/>
              </a:rPr>
              <a:t>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BB2D9-2479-235E-A362-7CBA3023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C6709-618F-A1C5-E1C1-7503C159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087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0E40-841D-083B-839B-7802C97C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5913F-0DDB-4520-E329-E26E61563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mv -&gt; magnetic variation value</a:t>
            </a:r>
          </a:p>
          <a:p>
            <a:r>
              <a:rPr lang="en-US" sz="1600" dirty="0" err="1"/>
              <a:t>mvEW</a:t>
            </a:r>
            <a:r>
              <a:rPr lang="en-US" sz="1600" dirty="0"/>
              <a:t> -&gt; magnetic variation E/W indicator</a:t>
            </a:r>
          </a:p>
          <a:p>
            <a:r>
              <a:rPr lang="en-US" sz="1600" dirty="0" err="1"/>
              <a:t>posMode</a:t>
            </a:r>
            <a:r>
              <a:rPr lang="en-US" sz="1600" dirty="0"/>
              <a:t> -&gt; Mode indicator, position fix flags (available in NMEA 2.3 and later)</a:t>
            </a:r>
          </a:p>
          <a:p>
            <a:r>
              <a:rPr lang="en-US" sz="1600" dirty="0" err="1"/>
              <a:t>navStatus</a:t>
            </a:r>
            <a:r>
              <a:rPr lang="en-US" sz="1600" dirty="0"/>
              <a:t> -&gt; Navigational status indicator</a:t>
            </a:r>
          </a:p>
          <a:p>
            <a:r>
              <a:rPr lang="en-US" sz="1600" dirty="0"/>
              <a:t>Cs -&gt; checksum</a:t>
            </a:r>
          </a:p>
          <a:p>
            <a:r>
              <a:rPr lang="en-US" sz="1600" dirty="0"/>
              <a:t>&lt;CR&gt;&lt;LF&gt; carriage return and line feed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C803B-2248-7971-6881-666B2835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D5AEC-4115-58B9-AEDC-E8BDA970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251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6405-34DB-3F92-4DD0-A50E0A70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GPGGA(Global positioning system fix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CAF5-2162-6F6F-0059-AA45674B2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1800" b="0" i="0" u="none" strike="noStrike" baseline="0" dirty="0">
                <a:latin typeface="Courier"/>
              </a:rPr>
              <a:t>$GPGGA,092725.00,4717.11399,N,00833.91590,E,1,08,1.01,499.6,M,48.0,M,,*5B</a:t>
            </a:r>
          </a:p>
          <a:p>
            <a:r>
              <a:rPr lang="pt-BR" sz="1800" dirty="0"/>
              <a:t>GP-&gt;Talker ID</a:t>
            </a:r>
          </a:p>
          <a:p>
            <a:r>
              <a:rPr lang="pt-BR" sz="1800" dirty="0"/>
              <a:t>GGA -&gt; sentence formatter</a:t>
            </a:r>
          </a:p>
          <a:p>
            <a:r>
              <a:rPr lang="pt-BR" sz="1800" b="0" i="0" u="none" strike="noStrike" baseline="0" dirty="0"/>
              <a:t>092725.00 -</a:t>
            </a:r>
            <a:r>
              <a:rPr lang="pt-BR" sz="1800" dirty="0"/>
              <a:t>&gt; UTC time</a:t>
            </a:r>
          </a:p>
          <a:p>
            <a:r>
              <a:rPr lang="pt-BR" sz="1800" b="0" i="0" u="none" strike="noStrike" baseline="0" dirty="0"/>
              <a:t>4717.11399 -&gt; latitude</a:t>
            </a:r>
          </a:p>
          <a:p>
            <a:r>
              <a:rPr lang="pt-BR" sz="1800" dirty="0"/>
              <a:t>N -&gt; North/south indicator</a:t>
            </a:r>
          </a:p>
          <a:p>
            <a:r>
              <a:rPr lang="pt-BR" sz="1800" b="0" i="0" u="none" strike="noStrike" baseline="0" dirty="0"/>
              <a:t>00833.91590 -&gt; Longitude</a:t>
            </a:r>
          </a:p>
          <a:p>
            <a:r>
              <a:rPr lang="pt-BR" sz="1800" dirty="0"/>
              <a:t>E -&gt; East/West indicator</a:t>
            </a:r>
          </a:p>
          <a:p>
            <a:r>
              <a:rPr lang="pt-BR" sz="1800" dirty="0"/>
              <a:t>1 -&gt; quality indicator for position fix</a:t>
            </a:r>
          </a:p>
          <a:p>
            <a:r>
              <a:rPr lang="pt-BR" sz="1800" dirty="0"/>
              <a:t>08 -&gt; numSV (number of satellites used)</a:t>
            </a:r>
          </a:p>
          <a:p>
            <a:r>
              <a:rPr lang="pt-BR" sz="1800" dirty="0"/>
              <a:t>1.01 -&gt; Horizontal Dilution of precision</a:t>
            </a:r>
          </a:p>
          <a:p>
            <a:r>
              <a:rPr lang="pt-BR" sz="1800" b="0" i="0" u="none" strike="noStrike" baseline="0" dirty="0"/>
              <a:t>499.6 -&gt;</a:t>
            </a:r>
            <a:r>
              <a:rPr lang="pt-BR" sz="1800" dirty="0"/>
              <a:t> Altitude above mean sea level</a:t>
            </a:r>
          </a:p>
          <a:p>
            <a:r>
              <a:rPr lang="pt-BR" sz="1800" dirty="0"/>
              <a:t>M -&gt; Altitude units : M(meters)</a:t>
            </a:r>
          </a:p>
          <a:p>
            <a:r>
              <a:rPr lang="pt-BR" sz="1800" dirty="0"/>
              <a:t>48.0 -&gt; Geoid separation:(Difference between ellipsoid and mean sea level)</a:t>
            </a:r>
          </a:p>
          <a:p>
            <a:endParaRPr lang="pt-BR" sz="1800" dirty="0">
              <a:latin typeface="Courier"/>
            </a:endParaRPr>
          </a:p>
          <a:p>
            <a:endParaRPr lang="pt-BR" sz="1800" dirty="0">
              <a:latin typeface="Courier"/>
            </a:endParaRPr>
          </a:p>
          <a:p>
            <a:endParaRPr lang="pt-BR" sz="1800" dirty="0">
              <a:latin typeface="Courier"/>
            </a:endParaRPr>
          </a:p>
          <a:p>
            <a:endParaRPr lang="pt-BR" sz="1800" dirty="0">
              <a:latin typeface="Courier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6A70F-5221-2616-E9BD-CD3DAB16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23515-390E-CA18-E7C2-9BF3A299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673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E2DF-FF1E-0A93-6D29-EAE8C638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E434A-A2B6-4381-802F-CB60BBBE1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700" dirty="0"/>
              <a:t>M -&gt; Geoid separation units </a:t>
            </a:r>
          </a:p>
          <a:p>
            <a:r>
              <a:rPr lang="en-US" sz="1700" dirty="0"/>
              <a:t>S-&gt;Age of differential corrections</a:t>
            </a:r>
          </a:p>
          <a:p>
            <a:r>
              <a:rPr lang="en-US" sz="1700" dirty="0"/>
              <a:t>cs-&gt;checksum</a:t>
            </a:r>
          </a:p>
          <a:p>
            <a:r>
              <a:rPr lang="en-US" sz="1700" dirty="0"/>
              <a:t>&lt;CR&gt;&lt;LF&gt; -&gt;carriage return and line feed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5D6B5-41BC-24C5-083D-1281F9C8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B8E3D-FB17-A0F1-9FFE-9BE927E3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892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572F-7CEE-28AF-3229-0FAF3C2D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Mahindra gnss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DA837-B2D5-0173-6483-CB4501D31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Gnss issue reasons</a:t>
            </a:r>
          </a:p>
          <a:p>
            <a:pPr marL="0" indent="0">
              <a:buNone/>
            </a:pPr>
            <a:r>
              <a:rPr lang="en-US" dirty="0"/>
              <a:t>===================</a:t>
            </a:r>
          </a:p>
          <a:p>
            <a:pPr marL="457200" indent="-457200">
              <a:buAutoNum type="arabicPeriod"/>
            </a:pPr>
            <a:r>
              <a:rPr lang="en-US" dirty="0"/>
              <a:t>From gnss module NMEA data is not receiving.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Gnss module is sending NMEA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From gnss module NMEA data is receiving or not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FW is not flashed properly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Module went to bad state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Module went to bad state we can check through the </a:t>
            </a:r>
            <a:r>
              <a:rPr lang="en-US" dirty="0" err="1"/>
              <a:t>tapout</a:t>
            </a:r>
            <a:r>
              <a:rPr lang="en-US" dirty="0"/>
              <a:t> and check with gnss tool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EE51F-592A-7136-4E18-00705E9C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55D03-8104-B04C-C872-2BBD05F7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27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3104-1082-ADA3-3A20-E7DFF039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U-blox </a:t>
            </a:r>
            <a:r>
              <a:rPr lang="en-US" dirty="0" err="1"/>
              <a:t>tapout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6F6CF-89E6-00D6-8192-3B097561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7B1A3-7B51-FFDC-304C-9479B6AA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FD8AC5-EAFD-A533-1DE3-61132B08D4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035" y="930433"/>
            <a:ext cx="2161581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C696BFB-8417-32D2-5557-437A51DC9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1880754"/>
            <a:ext cx="3811732" cy="425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198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1A6E-9E3F-9615-90CD-89361913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Gnss module is sending NMEA but not latching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1CC5-810E-503F-6A7B-41F1CAD1C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-&gt; Antenna connector issue</a:t>
            </a:r>
          </a:p>
          <a:p>
            <a:r>
              <a:rPr lang="en-US" dirty="0"/>
              <a:t>-&gt; Antenna intended placement is changed</a:t>
            </a:r>
          </a:p>
          <a:p>
            <a:r>
              <a:rPr lang="en-US" dirty="0"/>
              <a:t>-&gt; Gnss service issue</a:t>
            </a:r>
          </a:p>
          <a:p>
            <a:r>
              <a:rPr lang="en-US" dirty="0"/>
              <a:t>-&gt;with u-blox tap out need to check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EF117-91C4-8354-4405-CCE522B94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1C793-9C63-ED4F-21D6-0010BDC5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7903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108A-341F-5F6F-CF3B-FF2FDAC8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U-center application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FA935B-3D22-EC38-1385-9D598CF59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126" y="1371600"/>
            <a:ext cx="8295847" cy="48053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8E03B-1AC8-F266-F9A5-739FB815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62631-9A8D-B52C-2F5C-6BDDFCF2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615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BBD1C-BC0A-696A-B6AF-F248C8858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64A9-1763-5574-B6C9-981B646BA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838" y="3105807"/>
            <a:ext cx="10985500" cy="4805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/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3109C-1AA5-D8BE-FEE1-F3C73A9DC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F4C53-469F-7414-106B-DF218058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6FB6F8-9286-4034-9F49-2B746BE500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228640"/>
      </p:ext>
    </p:extLst>
  </p:cSld>
  <p:clrMapOvr>
    <a:masterClrMapping/>
  </p:clrMapOvr>
</p:sld>
</file>

<file path=ppt/theme/theme1.xml><?xml version="1.0" encoding="utf-8"?>
<a:theme xmlns:a="http://schemas.openxmlformats.org/drawingml/2006/main" name="Visteon Theme">
  <a:themeElements>
    <a:clrScheme name="Visteon Working Color Scheme">
      <a:dk1>
        <a:sysClr val="windowText" lastClr="000000"/>
      </a:dk1>
      <a:lt1>
        <a:sysClr val="window" lastClr="FFFFFF"/>
      </a:lt1>
      <a:dk2>
        <a:srgbClr val="44546A"/>
      </a:dk2>
      <a:lt2>
        <a:srgbClr val="C2C4C5"/>
      </a:lt2>
      <a:accent1>
        <a:srgbClr val="7D9EAD"/>
      </a:accent1>
      <a:accent2>
        <a:srgbClr val="C2C4C5"/>
      </a:accent2>
      <a:accent3>
        <a:srgbClr val="2684AD"/>
      </a:accent3>
      <a:accent4>
        <a:srgbClr val="33626E"/>
      </a:accent4>
      <a:accent5>
        <a:srgbClr val="0C3D60"/>
      </a:accent5>
      <a:accent6>
        <a:srgbClr val="E57200"/>
      </a:accent6>
      <a:hlink>
        <a:srgbClr val="7D9EAD"/>
      </a:hlink>
      <a:folHlink>
        <a:srgbClr val="FAA51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steon_Presentation_Template" id="{30D821D0-2DAC-4889-9013-0DAB80EE1B6F}" vid="{8C2B7CC4-2B25-4D4C-A397-78FB552B36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1E22CB13E3F346A1CE09FC661BAE9D" ma:contentTypeVersion="11" ma:contentTypeDescription="Create a new document." ma:contentTypeScope="" ma:versionID="fabaea417e16dc689850c2e625cfcd4c">
  <xsd:schema xmlns:xsd="http://www.w3.org/2001/XMLSchema" xmlns:xs="http://www.w3.org/2001/XMLSchema" xmlns:p="http://schemas.microsoft.com/office/2006/metadata/properties" xmlns:ns3="bd71995b-3438-4414-8b23-0c612b0adb65" xmlns:ns4="3b858c0a-3ff0-40cd-86d6-8e6e4927d857" targetNamespace="http://schemas.microsoft.com/office/2006/metadata/properties" ma:root="true" ma:fieldsID="74e3fbec4f295193adb9a0ddfbd692ed" ns3:_="" ns4:_="">
    <xsd:import namespace="bd71995b-3438-4414-8b23-0c612b0adb65"/>
    <xsd:import namespace="3b858c0a-3ff0-40cd-86d6-8e6e4927d85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71995b-3438-4414-8b23-0c612b0adb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58c0a-3ff0-40cd-86d6-8e6e4927d8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CFD86D-3E7B-46F5-B4FB-250984D3D5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71995b-3438-4414-8b23-0c612b0adb65"/>
    <ds:schemaRef ds:uri="3b858c0a-3ff0-40cd-86d6-8e6e4927d8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99A30B-4BF8-43CA-BADC-9BE98DFFCE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3DFA95-82EE-434A-A51C-6CFD2530F68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bd71995b-3438-4414-8b23-0c612b0adb65"/>
    <ds:schemaRef ds:uri="3b858c0a-3ff0-40cd-86d6-8e6e4927d85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30733</TotalTime>
  <Words>908</Words>
  <Application>Microsoft Office PowerPoint</Application>
  <PresentationFormat>Widescreen</PresentationFormat>
  <Paragraphs>150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-apple-system</vt:lpstr>
      <vt:lpstr>Arial</vt:lpstr>
      <vt:lpstr>Arial</vt:lpstr>
      <vt:lpstr>Arial Unicode MS</vt:lpstr>
      <vt:lpstr>Calibri</vt:lpstr>
      <vt:lpstr>Courier</vt:lpstr>
      <vt:lpstr>Courier New</vt:lpstr>
      <vt:lpstr>ublox-Bold</vt:lpstr>
      <vt:lpstr>ublox-Regular</vt:lpstr>
      <vt:lpstr>Wingdings</vt:lpstr>
      <vt:lpstr>Visteon Theme</vt:lpstr>
      <vt:lpstr>GNSS terminologies &amp; concepts </vt:lpstr>
      <vt:lpstr>GNSS + DR</vt:lpstr>
      <vt:lpstr>PowerPoint Presentation</vt:lpstr>
      <vt:lpstr>U-BLOX </vt:lpstr>
      <vt:lpstr>U-BLOX</vt:lpstr>
      <vt:lpstr>PowerPoint Presentation</vt:lpstr>
      <vt:lpstr>Introduction of NMEA frames</vt:lpstr>
      <vt:lpstr>Talker ID</vt:lpstr>
      <vt:lpstr>GPGGL (Latitude and longitude, with time of position fix and status)</vt:lpstr>
      <vt:lpstr>GPRMC</vt:lpstr>
      <vt:lpstr>Continuation</vt:lpstr>
      <vt:lpstr>GPGGA(Global positioning system fix data)</vt:lpstr>
      <vt:lpstr>Continuation</vt:lpstr>
      <vt:lpstr>Analyzing the Mahindra gnss issues</vt:lpstr>
      <vt:lpstr>U-blox tapout</vt:lpstr>
      <vt:lpstr>Gnss module is sending NMEA but not latching</vt:lpstr>
      <vt:lpstr>U-center application</vt:lpstr>
      <vt:lpstr>PowerPoint Presentation</vt:lpstr>
    </vt:vector>
  </TitlesOfParts>
  <Company>Visteon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vmurugap@visteon.com</dc:creator>
  <cp:lastModifiedBy>Kandibanda, Srikanth (S.)</cp:lastModifiedBy>
  <cp:revision>230</cp:revision>
  <dcterms:created xsi:type="dcterms:W3CDTF">2021-07-26T09:20:35Z</dcterms:created>
  <dcterms:modified xsi:type="dcterms:W3CDTF">2025-11-28T12:26:23Z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0x010100CD1E22CB13E3F346A1CE09FC661BAE9D</vt:lpwstr>
  </property>
</Properties>
</file>